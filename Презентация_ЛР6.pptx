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7" d="100"/>
          <a:sy n="15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A29"/>
                </a:solidFill>
                <a:latin typeface="Calibri"/>
              </a:defRPr>
            </a:pPr>
            <a:r>
              <a:rPr lang="ru-RU" sz="1400" b="0" i="0" u="none" strike="noStrike">
                <a:solidFill>
                  <a:srgbClr val="1E2A29"/>
                </a:solidFill>
                <a:latin typeface="Calibri"/>
              </a:rPr>
              <a:t>Сравнение моделей по R² на тестовой выборке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R²_test</c:v>
                </c:pt>
              </c:strCache>
            </c:strRef>
          </c:tx>
          <c:spPr>
            <a:solidFill>
              <a:srgbClr val="1F7A70">
                <a:alpha val="100000"/>
              </a:srgbClr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E2A29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DecisionTree
(без настройки)</c:v>
                </c:pt>
                <c:pt idx="1">
                  <c:v>DecisionTree
(GridSearch)</c:v>
                </c:pt>
                <c:pt idx="2">
                  <c:v>LinearRegression
(baseline)</c:v>
                </c:pt>
                <c:pt idx="3">
                  <c:v>RandomForest
(GridSearch)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0.45040000000000002</c:v>
                </c:pt>
                <c:pt idx="1">
                  <c:v>0.71360000000000001</c:v>
                </c:pt>
                <c:pt idx="2">
                  <c:v>0.72850000000000004</c:v>
                </c:pt>
                <c:pt idx="3">
                  <c:v>0.73660000000000003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8AC-4252-91C8-CE8CA8ED31C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6635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"/>
          <c:min val="0"/>
        </c:scaling>
        <c:delete val="0"/>
        <c:axPos val="l"/>
        <c:majorGridlines>
          <c:spPr>
            <a:ln w="6350" cap="flat">
              <a:solidFill>
                <a:srgbClr val="EAF0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6635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A29"/>
                </a:solidFill>
                <a:latin typeface="Calibri"/>
              </a:defRPr>
            </a:pPr>
            <a:r>
              <a:rPr lang="ru-RU" sz="1400" b="0" i="0" u="none" strike="noStrike">
                <a:solidFill>
                  <a:srgbClr val="1E2A29"/>
                </a:solidFill>
                <a:latin typeface="Calibri"/>
              </a:rPr>
              <a:t>Важность признаков (</a:t>
            </a:r>
            <a:r>
              <a:rPr lang="en-US" sz="1400" b="0" i="0" u="none" strike="noStrike">
                <a:solidFill>
                  <a:srgbClr val="1E2A29"/>
                </a:solidFill>
                <a:latin typeface="Calibri"/>
              </a:rPr>
              <a:t>MDI), %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Важность (MDI), %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E2A29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psych_load_index</c:v>
                </c:pt>
                <c:pt idx="1">
                  <c:v>support_to_stress</c:v>
                </c:pt>
                <c:pt idx="2">
                  <c:v>sleep_hours</c:v>
                </c:pt>
                <c:pt idx="3">
                  <c:v>exam_pressure</c:v>
                </c:pt>
                <c:pt idx="4">
                  <c:v>прочие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77.3</c:v>
                </c:pt>
                <c:pt idx="1">
                  <c:v>4.5</c:v>
                </c:pt>
                <c:pt idx="2">
                  <c:v>3.4</c:v>
                </c:pt>
                <c:pt idx="3">
                  <c:v>2.5</c:v>
                </c:pt>
                <c:pt idx="4">
                  <c:v>12.3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E9-4C84-8583-37DC65EBA70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3A46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0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663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0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377440"/>
            <a:ext cx="6035040" cy="6035040"/>
          </a:xfrm>
          <a:prstGeom prst="ellipse">
            <a:avLst/>
          </a:prstGeom>
          <a:solidFill>
            <a:srgbClr val="1C4542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114800"/>
            <a:ext cx="3840480" cy="3840480"/>
          </a:xfrm>
          <a:prstGeom prst="ellipse">
            <a:avLst/>
          </a:prstGeom>
          <a:solidFill>
            <a:srgbClr val="1F7A70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914400" cy="914400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5" name="Image 0" descr="icons/brain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0058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1874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ЛАБОРАТОРНАЯ РАБОТА №6  ·  ИТОГОВЫЙ АНАЛИТИЧЕСКИЙ МИНИ-ПРОЕКТ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24028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6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Предсказание выгорания</a:t>
            </a:r>
            <a:endParaRPr lang="en-US" sz="5200" dirty="0"/>
          </a:p>
          <a:p>
            <a:pPr marL="0" indent="0">
              <a:lnSpc>
                <a:spcPts val="56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студентов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868680" y="43434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B8D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основе психологических, учебных и социальных факторов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868680" y="5212080"/>
            <a:ext cx="4297680" cy="384048"/>
          </a:xfrm>
          <a:prstGeom prst="roundRect">
            <a:avLst>
              <a:gd name="adj" fmla="val 50000"/>
            </a:avLst>
          </a:prstGeom>
          <a:solidFill>
            <a:srgbClr val="1C4542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521208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C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ДАТАСЕТ · 1 000 000 ЗАПИСЕЙ × 20 ПРИЗНАКОВ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6868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Дисциплина «Анализ данных и искусственный </a:t>
            </a:r>
            <a:r>
              <a:rPr lang="en-US" sz="1200" dirty="0" err="1">
                <a:solidFill>
                  <a:srgbClr val="7F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интеллект</a:t>
            </a:r>
            <a:r>
              <a:rPr lang="en-US" sz="1200" dirty="0">
                <a:solidFill>
                  <a:srgbClr val="7F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E2A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Задача и предметная область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58368" y="1051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1 итогового ноутбука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669280" cy="4617720"/>
          </a:xfrm>
          <a:prstGeom prst="rect">
            <a:avLst/>
          </a:prstGeom>
          <a:solidFill>
            <a:srgbClr val="F1F6F5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600200"/>
            <a:ext cx="82296" cy="461772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828800"/>
            <a:ext cx="566928" cy="566928"/>
          </a:xfrm>
          <a:prstGeom prst="ellipse">
            <a:avLst/>
          </a:prstGeom>
          <a:solidFill>
            <a:srgbClr val="FBE5DE"/>
          </a:solidFill>
          <a:ln/>
        </p:spPr>
      </p:sp>
      <p:pic>
        <p:nvPicPr>
          <p:cNvPr id="7" name="Image 0" descr="icons/warn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" y="1970532"/>
            <a:ext cx="283464" cy="2834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18745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 выгорания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960120" y="2606040"/>
            <a:ext cx="5074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1E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Эмоциональное и физическое истощение от хронической учебной нагрузки, давления экзаменов, недосыпа и социальной изоляции.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960120" y="3520440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30–60% студентов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960120" y="4005072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7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вузов испытывают симптомы выгорания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960120" y="4489704"/>
            <a:ext cx="91440" cy="91440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13" name="Text 10"/>
          <p:cNvSpPr/>
          <p:nvPr/>
        </p:nvSpPr>
        <p:spPr>
          <a:xfrm>
            <a:off x="1188720" y="4398264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 риска отчисления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60120" y="4919472"/>
            <a:ext cx="91440" cy="91440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15" name="Text 12"/>
          <p:cNvSpPr/>
          <p:nvPr/>
        </p:nvSpPr>
        <p:spPr>
          <a:xfrm>
            <a:off x="1188720" y="482803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Падение успеваемости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960120" y="5349240"/>
            <a:ext cx="91440" cy="91440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17" name="Text 14"/>
          <p:cNvSpPr/>
          <p:nvPr/>
        </p:nvSpPr>
        <p:spPr>
          <a:xfrm>
            <a:off x="1188720" y="525780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Депрессия и тревожность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960120" y="5779008"/>
            <a:ext cx="91440" cy="91440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19" name="Text 16"/>
          <p:cNvSpPr/>
          <p:nvPr/>
        </p:nvSpPr>
        <p:spPr>
          <a:xfrm>
            <a:off x="1188720" y="5687568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Потеря мотивации к учёбе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583680" y="1600200"/>
            <a:ext cx="4983480" cy="4617720"/>
          </a:xfrm>
          <a:prstGeom prst="rect">
            <a:avLst/>
          </a:prstGeom>
          <a:solidFill>
            <a:srgbClr val="12302F"/>
          </a:solidFill>
          <a:ln/>
          <a:effectLst>
            <a:outerShdw blurRad="114300" dist="38100" dir="8100000" algn="bl" rotWithShape="0">
              <a:srgbClr val="0A1F1E">
                <a:alpha val="16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0" y="1828800"/>
            <a:ext cx="566928" cy="566928"/>
          </a:xfrm>
          <a:prstGeom prst="ellipse">
            <a:avLst/>
          </a:prstGeom>
          <a:solidFill>
            <a:srgbClr val="1C4542"/>
          </a:solidFill>
          <a:ln/>
        </p:spPr>
      </p:sp>
      <p:pic>
        <p:nvPicPr>
          <p:cNvPr id="22" name="Image 1" descr="icons/target_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9732" y="1970532"/>
            <a:ext cx="283464" cy="28346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589520" y="18745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машинного обучения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6903720" y="260604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Регрессия:  </a:t>
            </a:r>
            <a:r>
              <a:rPr lang="en-US" sz="1400" dirty="0">
                <a:solidFill>
                  <a:srgbClr val="D6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17 признакам предсказать численное значение burnout_score ∈ [0, 10]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6903720" y="36118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F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6903720" y="388620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D6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Инструмент раннего выявления студентов в группе риска для своевременной психологической помощи.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6903720" y="48006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F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 КАЧЕСТВА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6903720" y="5120640"/>
            <a:ext cx="1371600" cy="777240"/>
          </a:xfrm>
          <a:prstGeom prst="roundRect">
            <a:avLst>
              <a:gd name="adj" fmla="val 9412"/>
            </a:avLst>
          </a:prstGeom>
          <a:solidFill>
            <a:srgbClr val="1C4542"/>
          </a:solidFill>
          <a:ln/>
        </p:spPr>
      </p:sp>
      <p:sp>
        <p:nvSpPr>
          <p:cNvPr id="29" name="Text 25"/>
          <p:cNvSpPr/>
          <p:nvPr/>
        </p:nvSpPr>
        <p:spPr>
          <a:xfrm>
            <a:off x="6903720" y="528523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R²</a:t>
            </a:r>
            <a:endParaRPr lang="en-US" sz="1800" dirty="0"/>
          </a:p>
        </p:txBody>
      </p:sp>
      <p:sp>
        <p:nvSpPr>
          <p:cNvPr id="30" name="Shape 26"/>
          <p:cNvSpPr/>
          <p:nvPr/>
        </p:nvSpPr>
        <p:spPr>
          <a:xfrm>
            <a:off x="8458200" y="5120640"/>
            <a:ext cx="1371600" cy="777240"/>
          </a:xfrm>
          <a:prstGeom prst="roundRect">
            <a:avLst>
              <a:gd name="adj" fmla="val 9412"/>
            </a:avLst>
          </a:prstGeom>
          <a:solidFill>
            <a:srgbClr val="1C4542"/>
          </a:solidFill>
          <a:ln/>
        </p:spPr>
      </p:sp>
      <p:sp>
        <p:nvSpPr>
          <p:cNvPr id="31" name="Text 27"/>
          <p:cNvSpPr/>
          <p:nvPr/>
        </p:nvSpPr>
        <p:spPr>
          <a:xfrm>
            <a:off x="8458200" y="528523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MAE</a:t>
            </a:r>
            <a:endParaRPr lang="en-US" sz="1800" dirty="0"/>
          </a:p>
        </p:txBody>
      </p:sp>
      <p:sp>
        <p:nvSpPr>
          <p:cNvPr id="32" name="Shape 28"/>
          <p:cNvSpPr/>
          <p:nvPr/>
        </p:nvSpPr>
        <p:spPr>
          <a:xfrm>
            <a:off x="10012680" y="5120640"/>
            <a:ext cx="1371600" cy="777240"/>
          </a:xfrm>
          <a:prstGeom prst="roundRect">
            <a:avLst>
              <a:gd name="adj" fmla="val 9412"/>
            </a:avLst>
          </a:prstGeom>
          <a:solidFill>
            <a:srgbClr val="1C4542"/>
          </a:solidFill>
          <a:ln/>
        </p:spPr>
      </p:sp>
      <p:sp>
        <p:nvSpPr>
          <p:cNvPr id="33" name="Text 29"/>
          <p:cNvSpPr/>
          <p:nvPr/>
        </p:nvSpPr>
        <p:spPr>
          <a:xfrm>
            <a:off x="10012680" y="528523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RMSE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E2A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Анализ и подготовка данных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58368" y="10515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Разделы 2–3  ·  по материалам ЛР №1 и ЛР №2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606040" cy="1234440"/>
          </a:xfrm>
          <a:prstGeom prst="rect">
            <a:avLst/>
          </a:prstGeom>
          <a:solidFill>
            <a:srgbClr val="F1F6F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64208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1 000 000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E7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записей в датасете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29000" y="1554480"/>
            <a:ext cx="2606040" cy="1234440"/>
          </a:xfrm>
          <a:prstGeom prst="rect">
            <a:avLst/>
          </a:prstGeom>
          <a:solidFill>
            <a:srgbClr val="F1F6F5"/>
          </a:solidFill>
          <a:ln/>
        </p:spPr>
      </p:sp>
      <p:sp>
        <p:nvSpPr>
          <p:cNvPr id="8" name="Text 6"/>
          <p:cNvSpPr/>
          <p:nvPr/>
        </p:nvSpPr>
        <p:spPr>
          <a:xfrm>
            <a:off x="3429000" y="1664208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520440" y="228600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E7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пропусков и дубликатов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554480"/>
            <a:ext cx="2606040" cy="1234440"/>
          </a:xfrm>
          <a:prstGeom prst="rect">
            <a:avLst/>
          </a:prstGeom>
          <a:solidFill>
            <a:srgbClr val="F1F6F5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664208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309360" y="228600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E7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leaky-признака удалено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06840" y="1554480"/>
            <a:ext cx="2606040" cy="1234440"/>
          </a:xfrm>
          <a:prstGeom prst="rect">
            <a:avLst/>
          </a:prstGeom>
          <a:solidFill>
            <a:srgbClr val="F1F6F5"/>
          </a:solidFill>
          <a:ln/>
        </p:spPr>
      </p:sp>
      <p:sp>
        <p:nvSpPr>
          <p:cNvPr id="14" name="Text 12"/>
          <p:cNvSpPr/>
          <p:nvPr/>
        </p:nvSpPr>
        <p:spPr>
          <a:xfrm>
            <a:off x="9006840" y="1664208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+6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098280" y="228600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E7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новых признаков создано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063240"/>
            <a:ext cx="54406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3291840"/>
            <a:ext cx="548640" cy="548640"/>
          </a:xfrm>
          <a:prstGeom prst="ellipse">
            <a:avLst/>
          </a:prstGeom>
          <a:solidFill>
            <a:srgbClr val="F1F6F5"/>
          </a:solidFill>
          <a:ln/>
        </p:spPr>
      </p:sp>
      <p:pic>
        <p:nvPicPr>
          <p:cNvPr id="18" name="Image 0" descr="icons/chart_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429000"/>
            <a:ext cx="274320" cy="27432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554480" y="3319272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что выявлено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914400" y="4014216"/>
            <a:ext cx="100584" cy="10058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1" name="Text 18"/>
          <p:cNvSpPr/>
          <p:nvPr/>
        </p:nvSpPr>
        <p:spPr>
          <a:xfrm>
            <a:off x="1143000" y="3931920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E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burnout_score смещён к низким значениям с правым «хвостом» до 10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914400" y="4581144"/>
            <a:ext cx="100584" cy="10058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3" name="Text 20"/>
          <p:cNvSpPr/>
          <p:nvPr/>
        </p:nvSpPr>
        <p:spPr>
          <a:xfrm>
            <a:off x="1143000" y="4498848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E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Сильнейшие предикторы: стресс, тревожность, депрессия (рост ↑)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914400" y="5148072"/>
            <a:ext cx="100584" cy="10058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5" name="Text 22"/>
          <p:cNvSpPr/>
          <p:nvPr/>
        </p:nvSpPr>
        <p:spPr>
          <a:xfrm>
            <a:off x="1143000" y="5065776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E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Сон и социальная поддержка снижают выгорание (↓)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914400" y="5715000"/>
            <a:ext cx="100584" cy="10058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7" name="Text 24"/>
          <p:cNvSpPr/>
          <p:nvPr/>
        </p:nvSpPr>
        <p:spPr>
          <a:xfrm>
            <a:off x="1143000" y="5632704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E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Демография (пол, курс) почти не коррелирует с целевой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6263640" y="3063240"/>
            <a:ext cx="53035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7E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492240" y="3291840"/>
            <a:ext cx="548640" cy="548640"/>
          </a:xfrm>
          <a:prstGeom prst="ellipse">
            <a:avLst/>
          </a:prstGeom>
          <a:solidFill>
            <a:srgbClr val="F1F6F5"/>
          </a:solidFill>
          <a:ln/>
        </p:spPr>
      </p:sp>
      <p:pic>
        <p:nvPicPr>
          <p:cNvPr id="30" name="Image 1" descr="icons/broom_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3429000"/>
            <a:ext cx="274320" cy="27432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7178040" y="331927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Подготовка данных</a:t>
            </a:r>
            <a:endParaRPr lang="en-US" sz="1800" dirty="0"/>
          </a:p>
        </p:txBody>
      </p:sp>
      <p:sp>
        <p:nvSpPr>
          <p:cNvPr id="32" name="Shape 28"/>
          <p:cNvSpPr/>
          <p:nvPr/>
        </p:nvSpPr>
        <p:spPr>
          <a:xfrm>
            <a:off x="6537960" y="4014216"/>
            <a:ext cx="100584" cy="100584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33" name="Text 29"/>
          <p:cNvSpPr/>
          <p:nvPr/>
        </p:nvSpPr>
        <p:spPr>
          <a:xfrm>
            <a:off x="6766560" y="393192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E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Удалены 3 leaky-признака (mental_health_index, dropout_risk, risk_level)</a:t>
            </a:r>
            <a:endParaRPr lang="en-US" sz="1250" dirty="0"/>
          </a:p>
        </p:txBody>
      </p:sp>
      <p:sp>
        <p:nvSpPr>
          <p:cNvPr id="34" name="Shape 30"/>
          <p:cNvSpPr/>
          <p:nvPr/>
        </p:nvSpPr>
        <p:spPr>
          <a:xfrm>
            <a:off x="6537960" y="4581144"/>
            <a:ext cx="100584" cy="100584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35" name="Text 31"/>
          <p:cNvSpPr/>
          <p:nvPr/>
        </p:nvSpPr>
        <p:spPr>
          <a:xfrm>
            <a:off x="6766560" y="4498848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E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engineering: psych_load_index, support_to_stress и др.</a:t>
            </a:r>
            <a:endParaRPr lang="en-US" sz="1250" dirty="0"/>
          </a:p>
        </p:txBody>
      </p:sp>
      <p:sp>
        <p:nvSpPr>
          <p:cNvPr id="36" name="Shape 32"/>
          <p:cNvSpPr/>
          <p:nvPr/>
        </p:nvSpPr>
        <p:spPr>
          <a:xfrm>
            <a:off x="6537960" y="5148072"/>
            <a:ext cx="100584" cy="100584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37" name="Text 33"/>
          <p:cNvSpPr/>
          <p:nvPr/>
        </p:nvSpPr>
        <p:spPr>
          <a:xfrm>
            <a:off x="6766560" y="5065776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E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· OneHotEncoder · OrdinalEncoder</a:t>
            </a:r>
            <a:endParaRPr lang="en-US" sz="1250" dirty="0"/>
          </a:p>
        </p:txBody>
      </p:sp>
      <p:sp>
        <p:nvSpPr>
          <p:cNvPr id="38" name="Shape 34"/>
          <p:cNvSpPr/>
          <p:nvPr/>
        </p:nvSpPr>
        <p:spPr>
          <a:xfrm>
            <a:off x="6537960" y="5715000"/>
            <a:ext cx="100584" cy="100584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39" name="Text 35"/>
          <p:cNvSpPr/>
          <p:nvPr/>
        </p:nvSpPr>
        <p:spPr>
          <a:xfrm>
            <a:off x="6766560" y="5632704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E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— только на train, transform — на train и test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E2A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Моделирование и улучшение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58368" y="1051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Разделы 4–5  ·  baseline (ЛР №3) → улучшение (ЛР №4)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00200"/>
          <a:ext cx="658368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360920" y="1600200"/>
            <a:ext cx="4206240" cy="4617720"/>
          </a:xfrm>
          <a:prstGeom prst="rect">
            <a:avLst/>
          </a:prstGeom>
          <a:solidFill>
            <a:srgbClr val="12302F"/>
          </a:solidFill>
          <a:ln/>
          <a:effectLst>
            <a:outerShdw blurRad="114300" dist="38100" dir="8100000" algn="bl" rotWithShape="0">
              <a:srgbClr val="0A1F1E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635240" y="1828800"/>
            <a:ext cx="566928" cy="566928"/>
          </a:xfrm>
          <a:prstGeom prst="ellipse">
            <a:avLst/>
          </a:prstGeom>
          <a:solidFill>
            <a:srgbClr val="1C4542"/>
          </a:solidFill>
          <a:ln/>
        </p:spPr>
      </p:sp>
      <p:pic>
        <p:nvPicPr>
          <p:cNvPr id="7" name="Image 0" descr="icons/trophy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6972" y="1970532"/>
            <a:ext cx="283464" cy="2834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366760" y="1847088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Финальная модель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7635240" y="2606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 Forest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7635240" y="30175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D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подбором гиперпараметров (GridSearchCV)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7635240" y="36118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BD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8732520" y="36118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0.7366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7635240" y="4325112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BD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8732520" y="432511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0.6482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7635240" y="5038344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BD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8732520" y="5038344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0.8525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7635240" y="5742432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i="1" dirty="0">
                <a:solidFill>
                  <a:srgbClr val="7F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Линейная модель уже улавливает основные (линейные) связи; RandomForest добавляет нелинейности при умеренном переобучении (gap ≈ 0.10).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E2A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определяет выгорание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58368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6  ·  интерпретация модели (ЛР №5): MDI · Permutation · PDP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00200"/>
          <a:ext cx="630936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086600" y="1600200"/>
            <a:ext cx="4480560" cy="4617720"/>
          </a:xfrm>
          <a:prstGeom prst="rect">
            <a:avLst/>
          </a:prstGeom>
          <a:solidFill>
            <a:srgbClr val="F1F6F5"/>
          </a:solidFill>
          <a:ln/>
        </p:spPr>
      </p:sp>
      <p:sp>
        <p:nvSpPr>
          <p:cNvPr id="6" name="Shape 3"/>
          <p:cNvSpPr/>
          <p:nvPr/>
        </p:nvSpPr>
        <p:spPr>
          <a:xfrm>
            <a:off x="7086600" y="1600200"/>
            <a:ext cx="82296" cy="46177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7" name="Text 4"/>
          <p:cNvSpPr/>
          <p:nvPr/>
        </p:nvSpPr>
        <p:spPr>
          <a:xfrm>
            <a:off x="7360920" y="17830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инсайты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360920" y="22860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icons/heart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5220" y="2400300"/>
            <a:ext cx="22860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955280" y="2267712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psych_load_index доминирует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955280" y="2542032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50" dirty="0">
                <a:solidFill>
                  <a:srgbClr val="6E7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Агрегат стресса, тревожности и депрессии — 77.3% важности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7360920" y="326440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icons/help_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5220" y="3378708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324612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support_to_stress защищает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7955280" y="352044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50" dirty="0">
                <a:solidFill>
                  <a:srgbClr val="6E7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Баланс поддержки и стресса снижает выгорание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7360920" y="424281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icons/moon_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5220" y="4357116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955280" y="4224528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Сон снижает риск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7955280" y="4498848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50" dirty="0">
                <a:solidFill>
                  <a:srgbClr val="6E7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PDP: монотонное убывание выгорания с ростом sleep_hours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7360920" y="5221224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icons/check_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75220" y="5335524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955280" y="5202936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дискриминации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7955280" y="5477256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50" dirty="0">
                <a:solidFill>
                  <a:srgbClr val="6E7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Одинаковая точность по полу, возрасту и курсу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30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389120"/>
            <a:ext cx="4937760" cy="4937760"/>
          </a:xfrm>
          <a:prstGeom prst="ellipse">
            <a:avLst/>
          </a:prstGeom>
          <a:solidFill>
            <a:srgbClr val="1C4542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Выводы и практическое применение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58368" y="1051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Разделы 7–8 итогового ноутбука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927080" cy="1234440"/>
          </a:xfrm>
          <a:prstGeom prst="rect">
            <a:avLst/>
          </a:prstGeom>
          <a:solidFill>
            <a:srgbClr val="1C4542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554480"/>
            <a:ext cx="82296" cy="123444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783080"/>
            <a:ext cx="777240" cy="777240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8" name="Image 0" descr="icons/bulb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710" y="1977390"/>
            <a:ext cx="388620" cy="3886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20240" y="1719072"/>
            <a:ext cx="9418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вывод.  </a:t>
            </a:r>
            <a:r>
              <a:rPr lang="en-US" sz="1450" dirty="0">
                <a:solidFill>
                  <a:srgbClr val="E6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Психологическое состояние, социальная поддержка и сон — ключевые рычаги профилактики. Эти три фактора объясняют &gt;95% предсказательной силы модели; учебная нагрузка вторична.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40080" y="3063240"/>
            <a:ext cx="3520440" cy="3154680"/>
          </a:xfrm>
          <a:prstGeom prst="rect">
            <a:avLst/>
          </a:prstGeom>
          <a:solidFill>
            <a:srgbClr val="1C4542"/>
          </a:solidFill>
          <a:ln/>
          <a:effectLst>
            <a:outerShdw blurRad="114300" dist="38100" dir="8100000" algn="bl" rotWithShape="0">
              <a:srgbClr val="0A1F1E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14400" y="3310128"/>
            <a:ext cx="566928" cy="566928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12" name="Image 1" descr="icons/school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" y="3451860"/>
            <a:ext cx="283464" cy="2834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14400" y="39776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учреждений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914400" y="4407408"/>
            <a:ext cx="30175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BFD4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Скрининг: ежесеместровый опрос → прогноз burnout_score. Студенты с ŷ &gt; 4 направляются к психологу. Приоритет — психологические сервисы.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370832" y="3063240"/>
            <a:ext cx="3520440" cy="3154680"/>
          </a:xfrm>
          <a:prstGeom prst="rect">
            <a:avLst/>
          </a:prstGeom>
          <a:solidFill>
            <a:srgbClr val="1C4542"/>
          </a:solidFill>
          <a:ln/>
          <a:effectLst>
            <a:outerShdw blurRad="114300" dist="38100" dir="8100000" algn="bl" rotWithShape="0">
              <a:srgbClr val="0A1F1E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645152" y="3310128"/>
            <a:ext cx="566928" cy="566928"/>
          </a:xfrm>
          <a:prstGeom prst="ellipse">
            <a:avLst/>
          </a:prstGeom>
          <a:solidFill>
            <a:srgbClr val="F1F6F5"/>
          </a:solidFill>
          <a:ln/>
        </p:spPr>
      </p:sp>
      <p:pic>
        <p:nvPicPr>
          <p:cNvPr id="17" name="Image 2" descr="icons/search_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6884" y="3451860"/>
            <a:ext cx="283464" cy="28346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645152" y="39776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Развитие модели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4645152" y="4407408"/>
            <a:ext cx="30175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BFD4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Признаки совладания со стрессом, временные ряды, градиентный бустинг (XGBoost), запуск на полном датасете 1 млн.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8101584" y="3063240"/>
            <a:ext cx="3520440" cy="3154680"/>
          </a:xfrm>
          <a:prstGeom prst="rect">
            <a:avLst/>
          </a:prstGeom>
          <a:solidFill>
            <a:srgbClr val="1C4542"/>
          </a:solidFill>
          <a:ln/>
          <a:effectLst>
            <a:outerShdw blurRad="114300" dist="38100" dir="8100000" algn="bl" rotWithShape="0">
              <a:srgbClr val="0A1F1E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375904" y="3310128"/>
            <a:ext cx="566928" cy="566928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22" name="Image 3" descr="icons/shield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7636" y="3451860"/>
            <a:ext cx="283464" cy="28346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375904" y="39776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Этика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8375904" y="4407408"/>
            <a:ext cx="30175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BFD4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Инструмент скрининга, не диагноз. Локальные SHAP-объяснения, защита чувствительных данных (GDPR / 152-ФЗ), мониторинг data drift.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513</Words>
  <Application>Microsoft Office PowerPoint</Application>
  <PresentationFormat>Широкоэкранный</PresentationFormat>
  <Paragraphs>84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Calibri</vt:lpstr>
      <vt:lpstr>Georgia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Предсказание выгорания студентов</dc:title>
  <dc:subject>PptxGenJS Presentation</dc:subject>
  <dc:creator>Mu6a</dc:creator>
  <cp:lastModifiedBy>Aga Liber</cp:lastModifiedBy>
  <cp:revision>2</cp:revision>
  <dcterms:created xsi:type="dcterms:W3CDTF">2026-05-17T16:31:23Z</dcterms:created>
  <dcterms:modified xsi:type="dcterms:W3CDTF">2026-05-17T16:34:59Z</dcterms:modified>
</cp:coreProperties>
</file>